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854c23ce-2166-4235-beb5-82226502e43b.png"/>
          <p:cNvPicPr>
            <a:picLocks noChangeAspect="1"/>
          </p:cNvPicPr>
          <p:nvPr/>
        </p:nvPicPr>
        <p:blipFill>
          <a:blip r:embed="rId2"/>
          <a:srcRect l="66752"/>
          <a:stretch/>
        </p:blipFill>
        <p:spPr>
          <a:xfrm>
            <a:off x="7932420" y="-256032"/>
            <a:ext cx="405353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5303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A25B4"/>
                </a:solidFill>
                <a:latin typeface="Arial"/>
              </a:rPr>
              <a:t>PROYECTO INTEGRADOR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66751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 dirty="0">
                <a:solidFill>
                  <a:srgbClr val="0A25B4"/>
                </a:solidFill>
                <a:latin typeface="Arial"/>
              </a:rPr>
              <a:t>APLICATIVO PRICE – FISCALIZACIÓN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6217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>
                <a:solidFill>
                  <a:srgbClr val="1E1E1E"/>
                </a:solidFill>
                <a:latin typeface="Arial"/>
              </a:rPr>
              <a:t>Aplicación Android con REST, Retrofit y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89320"/>
            <a:ext cx="4754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A25B4"/>
                </a:solidFill>
                <a:latin typeface="Arial"/>
              </a:rPr>
              <a:t>Guía de trabajo para estudiantes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1. Objetivo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Arial"/>
              </a:defRPr>
            </a:pPr>
            <a:r>
              <a:t>• Desarrollar una aplicación Android que consuma y registre información mediante una API REST.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Arial"/>
              </a:defRPr>
            </a:pPr>
            <a:r>
              <a:t>• Implementar CRUD de establecimientos y fiscalizaciones.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Arial"/>
              </a:defRPr>
            </a:pPr>
            <a:r>
              <a:t>• Registrar precios, preguntas de verificación, incumplimientos, hechos verificados y observaciones.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Arial"/>
              </a:defRPr>
            </a:pPr>
            <a:r>
              <a:t>• Generar un Acta PRICE en PDF conservando la estructura visual del formato proporcionado.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Arial"/>
              </a:defRPr>
            </a:pPr>
            <a:r>
              <a:t>• Aplicar autenticación, validación, almacenamiento local y sincronización con el servidor.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2. Problema / caso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0A25B4"/>
                </a:solidFill>
                <a:latin typeface="Arial"/>
              </a:rPr>
              <a:t>Una oficina de fiscalización necesita digitalizar el registro de diligencias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t>• El fiscalizador debe seleccionar un establecimiento y crear una diligencia.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t>• Debe registrar información de precios y verificar condiciones del establecimiento.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t>• Debe seleccionar incumplimientos y registrar los hechos verificados.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t>• Al finalizar, debe generar un Acta PRICE de dos páginas en PDF.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t>• La aplicación debe intercambiar datos con una API REST.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3. Arquitectura 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011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ANDROID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103120" cy="914400"/>
          </a:xfrm>
          <a:prstGeom prst="roundRect">
            <a:avLst/>
          </a:prstGeom>
          <a:solidFill>
            <a:srgbClr val="0A2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1828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Retrofit + Java
Room/SQLite +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508760"/>
            <a:ext cx="2011680" cy="91440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1709928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A25B4"/>
                </a:solidFill>
                <a:latin typeface="Arial"/>
              </a:rPr>
              <a:t>API 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508760"/>
            <a:ext cx="2011680" cy="91440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59" y="1709928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A25B4"/>
                </a:solidFill>
                <a:latin typeface="Arial"/>
              </a:rPr>
              <a:t>BASE DE DATOS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508760"/>
            <a:ext cx="2011680" cy="91440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55480" y="1709928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A25B4"/>
                </a:solidFill>
                <a:latin typeface="Arial"/>
              </a:rPr>
              <a:t>ACTA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700784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0A25B4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700784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0A25B4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1700784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0A25B4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803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Cliente: Android Studio + Java.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Comunicación: HTTP/JSON mediante Retrofit.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Servidor: API REST con endpoints CRUD.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Persistencia: MySQL en servidor y almacenamiento local para trabajo offline.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Salida: PDF con plantilla fija del Acta PRICE.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4. Módulos obligatorios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01. Inicio de sesión — Usuario, contraseña, validación REST y control de rol.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02. Menú principal — Accesos a establecimientos, fiscalizaciones, reportes y configuración.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03. Establecimientos — Listado, búsqueda, detalle, alta, edición y consulta.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04. Nueva fiscalización — Expediente, agente, código, registro, fecha, horarios y ubicación.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05. Información recabada — Productos, precios PRICE, precios publicados y precios de surtidor.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06. Verificación — Teléfono publicado, teléfono actualizado y horario publicado.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07. Incumplimientos — Selección de incumplimientos y base legal asociada.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08. Hechos verificados — Redacción de los hechos vinculados a cada incumplimiento.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09. Otros y firmas — Ocurrencias, documentación, observaciones, negativa y firmas.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10. Vista previa / PDF — Revisión final y generación del Acta PRICE de 2 páginas.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5. Flujo principal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828800" cy="82296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A25B4"/>
                </a:solidFill>
                <a:latin typeface="Arial"/>
              </a:rPr>
              <a:t>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554480"/>
            <a:ext cx="1828800" cy="82296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79" y="173736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A25B4"/>
                </a:solidFill>
                <a:latin typeface="Arial"/>
              </a:rPr>
              <a:t>ESTABLECIMIENTO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554480"/>
            <a:ext cx="1828800" cy="82296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799" y="173736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A25B4"/>
                </a:solidFill>
                <a:latin typeface="Arial"/>
              </a:rPr>
              <a:t>NUEVA
FISCALIZACIÓN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554480"/>
            <a:ext cx="1828800" cy="82296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19" y="173736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A25B4"/>
                </a:solidFill>
                <a:latin typeface="Arial"/>
              </a:rPr>
              <a:t>PRECIOS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1554480"/>
            <a:ext cx="1828800" cy="82296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21240" y="173736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A25B4"/>
                </a:solidFill>
                <a:latin typeface="Arial"/>
              </a:rPr>
              <a:t>VERIFICACIÓN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74720"/>
            <a:ext cx="1828800" cy="82296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576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A25B4"/>
                </a:solidFill>
                <a:latin typeface="Arial"/>
              </a:rPr>
              <a:t>INCUMPLIMIENTOS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3474720"/>
            <a:ext cx="1828800" cy="82296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79" y="36576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A25B4"/>
                </a:solidFill>
                <a:latin typeface="Arial"/>
              </a:rPr>
              <a:t>HECHOS /
OTROS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3474720"/>
            <a:ext cx="1828800" cy="82296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799" y="36576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A25B4"/>
                </a:solidFill>
                <a:latin typeface="Arial"/>
              </a:rPr>
              <a:t>FIRMAS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3474720"/>
            <a:ext cx="1828800" cy="82296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19" y="36576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A25B4"/>
                </a:solidFill>
                <a:latin typeface="Arial"/>
              </a:rPr>
              <a:t>VISTA PREVIA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3474720"/>
            <a:ext cx="1828800" cy="822960"/>
          </a:xfrm>
          <a:prstGeom prst="roundRect">
            <a:avLst/>
          </a:prstGeom>
          <a:solidFill>
            <a:srgbClr val="F5F7FC"/>
          </a:solidFill>
          <a:ln>
            <a:solidFill>
              <a:srgbClr val="0A2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21240" y="36576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A25B4"/>
                </a:solidFill>
                <a:latin typeface="Arial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0A25B4"/>
                </a:solidFill>
                <a:latin typeface="Arial"/>
              </a:rPr>
              <a:t>Regla: no se genera el PDF si faltan datos obligatorios.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6. Datos generales de la fiscalización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Número de expediente.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Agente fiscalizado.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Código Osinergmin y Registro de Hidrocarburos.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Fecha de diligencia.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Hora de apertura y hora de cierre.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Dirección, distrito, provincia y departamento.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RUC/DNI y teléfono/fax.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Fiscalizador responsable.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7. Información recabada: precios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Diesel B5 / Diesel B5 S-50.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G-84 / Gasohol 84 Plus.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Gasolina Regular / Gasohol Regular.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Gasolina Premium / Gasohol Premium.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GLP Automotor.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Otros y marca.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GLP envasado en cilindros: 3, 5, 10, 15 y 45 kg.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Para cada producto: precio registrado en PRICE, publicado, consignado en surtidor/dispensador y precio con descuento cuando corresponda.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8. Verificaciones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t>• ¿Teléfono publicado en el establecimiento? → Sí / No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t>• ¿Teléfono registrado y actualizado en PRICE? → Sí / No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t>• ¿Horario de atención publicado en el establecimiento? → Sí / No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t>• Los controles deben quedar almacenados y asociados a la fiscalización.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t>• Validar que el usuario responda todos los campos requeridos antes de finalizar.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9. Incumplimientos y base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Incumplimiento 1: precios no registrados/actualizados en PRICE o precios con/sin descuento.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Incumplimiento 2: no exhibición de la lista de precios vigente.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Incumplimiento 3: ubicación o número telefónico no registrado/actualizado.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Incumplimiento 4: horario de atención o teléfono no exhibidos en paneles visibles.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Incumplimiento 5: no empleo del galón como unidad de medida.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Incumplimiento 6: falta de etiqueta visible con precio por galón u otra unidad energética equivalente.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A25B4"/>
                </a:solidFill>
                <a:latin typeface="Arial"/>
              </a:rPr>
              <a:t>El catálogo debe estar en la API para evitar duplicar textos en la aplicación.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10. Hechos verificados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Cada incumplimiento seleccionado debe permitir registrar hechos verificados.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El texto debe guardarse con fecha, usuario y fiscalización.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La aplicación debe permitir editar antes de cerrar el acta.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Ejemplo: describir qué se observó, dónde se observó y qué dato se comparó.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se debe reemplazar automáticamente la evidencia escrita por el texto del incumplimiento.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11. Sección III – Otros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Otras ocurrencias detectadas en la fiscalización.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Documentación recabada en la fiscalización.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Manifestaciones u observaciones del agente fiscalizado.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Negativa del agente fiscalizado o demás participantes a identificarse, suscribir o recibir el acta.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Firma del fiscalizador.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Firma de quien recibe, DNI, apellidos y nombres y relación con el agente fiscalizado.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12. Base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0A25B4"/>
                </a:solidFill>
                <a:latin typeface="Arial"/>
              </a:rPr>
              <a:t>Tablas mínimas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usuarios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establecimientos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fiscalizaciones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productos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precios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verificaciones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incumplimientos_catalogo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fiscalizacion_incumplimientos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hechos_verificados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observaciones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firmas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documentos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13. API REST –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MÉTODO</a:t>
                      </a:r>
                    </a:p>
                  </a:txBody>
                  <a:tcPr>
                    <a:solidFill>
                      <a:srgbClr val="0A25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0A25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FUNCIÓN</a:t>
                      </a:r>
                    </a:p>
                  </a:txBody>
                  <a:tcPr>
                    <a:solidFill>
                      <a:srgbClr val="0A2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Autenticar usuario y devolver token.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/api/establecimientos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Listar establecimientos.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/api/establecimientos/{id}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Consultar un establecimiento.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/api/establecimientos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Crear establecimiento.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/api/establecimientos/{id}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Actualizar establecimiento.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/api/establecimientos/{id}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Eliminar establecimiento.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/api/fiscalizaciones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Listar fiscalizaciones.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/api/fiscalizaciones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Crear fiscalización.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/api/fiscalizaciones/{id}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Consultar fiscalización.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/api/fiscalizaciones/{id}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Actualizar fiscalización.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/api/incumplimientos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Consultar catálogo de incumplimientos.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90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/api/fiscalizaciones/{id}/incumplimientos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Registrar incumplimiento.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903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/api/fiscalizaciones/{id}/acta/pdf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  <a:latin typeface="Arial"/>
                        </a:rPr>
                        <a:t>Generar/obtener PDF del Acta.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14. Android: Retrofit +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Crear interfaces de servicio con @GET, @POST, @PUT y @DELETE.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Configurar Retrofit con la URL base de la API.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Usar modelos Java (POJO) para solicitudes y respuestas JSON.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Implementar callbacks o corrutinas/ejecución asíncrona según el enfoque del curso.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Mostrar estados: cargando, éxito, error y sin conexión.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No colocar la lógica SQL del servidor dentro de la aplicación.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A25B4"/>
                </a:solidFill>
                <a:latin typeface="Arial"/>
              </a:rPr>
              <a:t>Ejemplo conceptual: Retrofit → API REST → JSON → Modelo Java → RecyclerView/Formulario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15. Generación del Acta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Paso 1: validar que la fiscalización esté completa.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Paso 2: recuperar todos los datos necesarios.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Paso 3: cargar la plantilla del Acta.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Paso 4: reemplazar campos variables (expediente, agente, fechas, precios, hechos, firmas, etc.).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Paso 5: conservar tablas, bordes, títulos, saltos de página y pie de página.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Paso 6: generar el PDF de exactamente 2 páginas.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Paso 7: permitir visualizar, guardar y compartir el documento.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16. Requisito crítico: PDF idéntico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0A25B4"/>
                </a:solidFill>
                <a:latin typeface="Arial"/>
              </a:rPr>
              <a:t>EL PDF DEBE CONSERVAR LA ESTRUCTURA DEL FORMATO ENTREGADO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2 páginas.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Encabezado, expediente y datos del agente.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Tabla de información recabada.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Bloque de incumplimientos y hechos verificados.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Sección III – Otros.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Bloques de firmas.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Base legal y pie de página.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Los campos variables se completan desde los datos registrados en la aplicación.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17. Validaciones obligatorias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No permitir expediente vacío.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No permitir fecha inválida o cierre anterior a la apertura.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No permitir precios negativos.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No permitir guardar un incumplimiento sin hechos verificados.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No permitir cerrar la fiscalización sin fiscalizador.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Confirmar antes de eliminar registros.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Controlar errores de API y ausencia de conexión.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Evitar duplicar establecimientos o fiscalizaciones por accidente.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18. Funciones avanzadas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JWT o token de autenticación.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Roles: ADMIN, FISCALIZADOR y CONSULTA.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Modo offline con sincronización posterior.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Firma manuscrita en pantalla.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Adjuntar fotografías de la fiscalización.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Geolocalización de la diligencia.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Historial de cambios.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Búsqueda por expediente, código, RUC, agente y fecha.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Estado: BORRADOR → EN PROCESO → FINALIZADA → ACTA GENERADA.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19. Entregables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Proyecto Android Studio </a:t>
            </a:r>
            <a:r>
              <a:rPr dirty="0" err="1"/>
              <a:t>completo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Código </a:t>
            </a:r>
            <a:r>
              <a:rPr dirty="0" err="1"/>
              <a:t>fuente</a:t>
            </a:r>
            <a:r>
              <a:rPr dirty="0"/>
              <a:t> de la API REST.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Script SQL</a:t>
            </a:r>
            <a:r>
              <a:rPr lang="es-ES" dirty="0" err="1"/>
              <a:t>ite</a:t>
            </a:r>
            <a:r>
              <a:rPr dirty="0"/>
              <a:t> de la base de </a:t>
            </a:r>
            <a:r>
              <a:rPr dirty="0" err="1"/>
              <a:t>datos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Colección</a:t>
            </a:r>
            <a:r>
              <a:rPr dirty="0"/>
              <a:t> de </a:t>
            </a:r>
            <a:r>
              <a:rPr dirty="0" err="1"/>
              <a:t>pruebas</a:t>
            </a:r>
            <a:r>
              <a:rPr dirty="0"/>
              <a:t> de API (Postman u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Capturas</a:t>
            </a:r>
            <a:r>
              <a:rPr dirty="0"/>
              <a:t> de </a:t>
            </a:r>
            <a:r>
              <a:rPr dirty="0" err="1"/>
              <a:t>pantalla</a:t>
            </a:r>
            <a:r>
              <a:rPr dirty="0"/>
              <a:t> del </a:t>
            </a:r>
            <a:r>
              <a:rPr dirty="0" err="1"/>
              <a:t>funcionamiento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Video </a:t>
            </a:r>
            <a:r>
              <a:rPr dirty="0" err="1"/>
              <a:t>corto</a:t>
            </a:r>
            <a:r>
              <a:rPr dirty="0"/>
              <a:t> </a:t>
            </a:r>
            <a:r>
              <a:rPr dirty="0" err="1"/>
              <a:t>demostrando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PDF final del Acta PRICE.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</a:t>
            </a:r>
            <a:r>
              <a:rPr dirty="0" err="1"/>
              <a:t>explicando</a:t>
            </a:r>
            <a:r>
              <a:rPr dirty="0"/>
              <a:t> </a:t>
            </a:r>
            <a:r>
              <a:rPr dirty="0" err="1"/>
              <a:t>arquitectura</a:t>
            </a:r>
            <a:r>
              <a:rPr dirty="0"/>
              <a:t>, endpoints y base de </a:t>
            </a:r>
            <a:r>
              <a:rPr dirty="0" err="1"/>
              <a:t>datos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20. Rúbrica de evaluación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155866"/>
              </p:ext>
            </p:extLst>
          </p:nvPr>
        </p:nvGraphicFramePr>
        <p:xfrm>
          <a:off x="1920240" y="1325880"/>
          <a:ext cx="83210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CRITERIO</a:t>
                      </a:r>
                    </a:p>
                  </a:txBody>
                  <a:tcPr>
                    <a:solidFill>
                      <a:srgbClr val="0A25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PUNTOS</a:t>
                      </a:r>
                    </a:p>
                  </a:txBody>
                  <a:tcPr>
                    <a:solidFill>
                      <a:srgbClr val="0A2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Interfaz y navegación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2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Login, roles y validaciones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1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API REST y Retrofit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2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CRUD de establecimientos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1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Registro de fiscalizaciones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1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Precios y verificaciones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2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Incumplimientos y hechos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2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Base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2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Generación del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2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Fidelidad visual del Acta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3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Firma y funciones avanzadas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latin typeface="Arial"/>
                        </a:rPr>
                        <a:t>2</a:t>
                      </a:r>
                      <a:endParaRPr sz="12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76109" y="6277466"/>
            <a:ext cx="5409301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dirty="0">
                <a:solidFill>
                  <a:srgbClr val="0A25B4"/>
                </a:solidFill>
                <a:latin typeface="Arial"/>
              </a:rPr>
              <a:t>Total: </a:t>
            </a:r>
            <a:r>
              <a:rPr lang="es-ES" sz="1300" b="1" dirty="0">
                <a:solidFill>
                  <a:srgbClr val="0A25B4"/>
                </a:solidFill>
                <a:latin typeface="Arial"/>
              </a:rPr>
              <a:t>20</a:t>
            </a:r>
            <a:r>
              <a:rPr sz="1300" b="1" dirty="0">
                <a:solidFill>
                  <a:srgbClr val="0A25B4"/>
                </a:solidFill>
                <a:latin typeface="Arial"/>
              </a:rPr>
              <a:t> puntos → </a:t>
            </a:r>
            <a:r>
              <a:rPr sz="1300" b="1" dirty="0" err="1">
                <a:solidFill>
                  <a:srgbClr val="0A25B4"/>
                </a:solidFill>
                <a:latin typeface="Arial"/>
              </a:rPr>
              <a:t>el</a:t>
            </a:r>
            <a:r>
              <a:rPr sz="1300" b="1" dirty="0">
                <a:solidFill>
                  <a:srgbClr val="0A25B4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0A25B4"/>
                </a:solidFill>
                <a:latin typeface="Arial"/>
              </a:rPr>
              <a:t>docente</a:t>
            </a:r>
            <a:r>
              <a:rPr sz="1300" b="1" dirty="0">
                <a:solidFill>
                  <a:srgbClr val="0A25B4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0A25B4"/>
                </a:solidFill>
                <a:latin typeface="Arial"/>
              </a:rPr>
              <a:t>puede</a:t>
            </a:r>
            <a:r>
              <a:rPr sz="1300" b="1" dirty="0">
                <a:solidFill>
                  <a:srgbClr val="0A25B4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0A25B4"/>
                </a:solidFill>
                <a:latin typeface="Arial"/>
              </a:rPr>
              <a:t>convertir</a:t>
            </a:r>
            <a:r>
              <a:rPr sz="1300" b="1" dirty="0">
                <a:solidFill>
                  <a:srgbClr val="0A25B4"/>
                </a:solidFill>
                <a:latin typeface="Arial"/>
              </a:rPr>
              <a:t> a </a:t>
            </a:r>
            <a:r>
              <a:rPr sz="1300" b="1" dirty="0" err="1">
                <a:solidFill>
                  <a:srgbClr val="0A25B4"/>
                </a:solidFill>
                <a:latin typeface="Arial"/>
              </a:rPr>
              <a:t>escala</a:t>
            </a:r>
            <a:r>
              <a:rPr sz="1300" b="1" dirty="0">
                <a:solidFill>
                  <a:srgbClr val="0A25B4"/>
                </a:solidFill>
                <a:latin typeface="Arial"/>
              </a:rPr>
              <a:t> vigesimal.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2459"/>
            <a:ext cx="2691763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 dirty="0">
                <a:solidFill>
                  <a:srgbClr val="1E1E1E"/>
                </a:solidFill>
                <a:latin typeface="Arial"/>
              </a:rPr>
              <a:t>21. </a:t>
            </a:r>
            <a:r>
              <a:rPr lang="es-ES" sz="2600" b="1" dirty="0">
                <a:solidFill>
                  <a:srgbClr val="1E1E1E"/>
                </a:solidFill>
                <a:latin typeface="Arial"/>
              </a:rPr>
              <a:t>Paso a paso</a:t>
            </a:r>
            <a:endParaRPr sz="26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1) Crear proyecto Android.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2) Diseñar las pantallas.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3) Crear base de datos MySQL.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4) Construir API REST.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5) Probar endpoints.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6) Conectar Android con Retrofit.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7) Implementar login y CRUD.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8) Implementar fiscalización y precios.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9) Implementar incumplimientos, hechos y firmas.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10) Construir plantilla del Acta.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11) Generar y verificar el PDF.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12) Entregar evidencias.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A25B4"/>
                </a:solidFill>
                <a:latin typeface="Arial"/>
              </a:rPr>
              <a:t>SEMANA 04  | 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064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1E1E1E"/>
                </a:solidFill>
                <a:latin typeface="Arial"/>
              </a:rPr>
              <a:t>22. Reto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554480" cy="54864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828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0A25B4"/>
                </a:solidFill>
                <a:latin typeface="Arial"/>
              </a:rPr>
              <a:t>RETO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49026"/>
            <a:ext cx="996696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 err="1">
                <a:solidFill>
                  <a:srgbClr val="1E1E1E"/>
                </a:solidFill>
                <a:latin typeface="Arial"/>
              </a:rPr>
              <a:t>Crear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1E1E1E"/>
                </a:solidFill>
                <a:latin typeface="Arial"/>
              </a:rPr>
              <a:t>una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1E1E1E"/>
                </a:solidFill>
                <a:latin typeface="Arial"/>
              </a:rPr>
              <a:t>fiscalización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1E1E1E"/>
                </a:solidFill>
                <a:latin typeface="Arial"/>
              </a:rPr>
              <a:t>completa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1E1E1E"/>
                </a:solidFill>
                <a:latin typeface="Arial"/>
              </a:rPr>
              <a:t>desde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cero y </a:t>
            </a:r>
            <a:r>
              <a:rPr sz="2800" b="1" dirty="0" err="1">
                <a:solidFill>
                  <a:srgbClr val="1E1E1E"/>
                </a:solidFill>
                <a:latin typeface="Arial"/>
              </a:rPr>
              <a:t>generar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1E1E1E"/>
                </a:solidFill>
                <a:latin typeface="Arial"/>
              </a:rPr>
              <a:t>el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Acta PRICE final sin </a:t>
            </a:r>
            <a:r>
              <a:rPr sz="2800" b="1" dirty="0" err="1">
                <a:solidFill>
                  <a:srgbClr val="1E1E1E"/>
                </a:solidFill>
                <a:latin typeface="Arial"/>
              </a:rPr>
              <a:t>editar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1E1E1E"/>
                </a:solidFill>
                <a:latin typeface="Arial"/>
              </a:rPr>
              <a:t>manualmente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1E1E1E"/>
                </a:solidFill>
                <a:latin typeface="Arial"/>
              </a:rPr>
              <a:t>el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PDF.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9966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0A25B4"/>
                </a:solidFill>
                <a:latin typeface="Arial"/>
              </a:rPr>
              <a:t>La aplicación debe ser capaz de reproducir el documento a partir de los datos registrados.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SEMANA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</a:rPr>
              <a:t>APLICATIVO PRICE – FISCALIZACIÓN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REST + Retrofit + Java + Base de datos +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1912</Words>
  <Application>Microsoft Office PowerPoint</Application>
  <PresentationFormat>Panorámica</PresentationFormat>
  <Paragraphs>278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INSTRUCTOR</cp:lastModifiedBy>
  <cp:revision>2</cp:revision>
  <dcterms:created xsi:type="dcterms:W3CDTF">2013-01-27T09:14:16Z</dcterms:created>
  <dcterms:modified xsi:type="dcterms:W3CDTF">2026-09-08T22:22:10Z</dcterms:modified>
  <cp:category/>
</cp:coreProperties>
</file>